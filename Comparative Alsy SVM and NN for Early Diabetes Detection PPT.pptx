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Instrument Sans Semi Bold"/>
      <p:regular r:id="rId15"/>
    </p:embeddedFont>
    <p:embeddedFont>
      <p:font typeface="Instrument Sans Semi Bold"/>
      <p:regular r:id="rId16"/>
    </p:embeddedFont>
    <p:embeddedFont>
      <p:font typeface="Instrument Sans Semi Bold"/>
      <p:regular r:id="rId17"/>
    </p:embeddedFont>
    <p:embeddedFont>
      <p:font typeface="Instrument Sans Semi Bold"/>
      <p:regular r:id="rId18"/>
    </p:embeddedFont>
    <p:embeddedFont>
      <p:font typeface="Instrument Sans Medium"/>
      <p:regular r:id="rId19"/>
    </p:embeddedFont>
    <p:embeddedFont>
      <p:font typeface="Instrument Sans Medium"/>
      <p:regular r:id="rId20"/>
    </p:embeddedFont>
    <p:embeddedFont>
      <p:font typeface="Instrument Sans Medium"/>
      <p:regular r:id="rId21"/>
    </p:embeddedFont>
    <p:embeddedFont>
      <p:font typeface="Instrument Sans Medium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slideLayout" Target="../slideLayouts/slideLayout6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3969"/>
            </a:avLst>
          </a:prstGeom>
          <a:solidFill>
            <a:srgbClr val="FFFFFF"/>
          </a:solidFill>
          <a:ln w="7620">
            <a:solidFill>
              <a:srgbClr val="BBD9F5"/>
            </a:solidFill>
            <a:prstDash val="solid"/>
          </a:ln>
          <a:effectLst>
            <a:outerShdw sx="100000" sy="100000" kx="0" ky="0" algn="bl" rotWithShape="0" blurRad="0" dist="85090" dir="2700000">
              <a:srgbClr val="bbd9f5">
                <a:alpha val="10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507" y="243840"/>
            <a:ext cx="13763387" cy="774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3969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180267" y="2860596"/>
            <a:ext cx="12269867" cy="133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Comparative Analysis of SVM and Neural Networks for Early Diabetes Detection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180267" y="4514374"/>
            <a:ext cx="12269867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Machine Learning Classification for Diabetic Status Prediction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180267" y="5095756"/>
            <a:ext cx="12269867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Presented by Vansh Kumar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3969"/>
            </a:avLst>
          </a:prstGeom>
          <a:solidFill>
            <a:srgbClr val="FFFFFF"/>
          </a:solidFill>
          <a:ln w="7620">
            <a:solidFill>
              <a:srgbClr val="BBD9F5"/>
            </a:solidFill>
            <a:prstDash val="solid"/>
          </a:ln>
          <a:effectLst>
            <a:outerShdw sx="100000" sy="100000" kx="0" ky="0" algn="bl" rotWithShape="0" blurRad="0" dist="85090" dir="2700000">
              <a:srgbClr val="bbd9f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80267" y="1593890"/>
            <a:ext cx="11399877" cy="666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Problem Statement: Early Diabetes Detection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80267" y="3007519"/>
            <a:ext cx="3947636" cy="3628072"/>
          </a:xfrm>
          <a:prstGeom prst="roundRect">
            <a:avLst>
              <a:gd name="adj" fmla="val 403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180267" y="2977039"/>
            <a:ext cx="3947636" cy="121920"/>
          </a:xfrm>
          <a:prstGeom prst="roundRect">
            <a:avLst>
              <a:gd name="adj" fmla="val 157520"/>
            </a:avLst>
          </a:prstGeom>
          <a:solidFill>
            <a:srgbClr val="84C1FA"/>
          </a:solidFill>
          <a:ln/>
        </p:spPr>
      </p:sp>
      <p:sp>
        <p:nvSpPr>
          <p:cNvPr id="6" name="Shape 4"/>
          <p:cNvSpPr/>
          <p:nvPr/>
        </p:nvSpPr>
        <p:spPr>
          <a:xfrm>
            <a:off x="2834045" y="2687479"/>
            <a:ext cx="640080" cy="640080"/>
          </a:xfrm>
          <a:prstGeom prst="roundRect">
            <a:avLst>
              <a:gd name="adj" fmla="val 142857"/>
            </a:avLst>
          </a:prstGeom>
          <a:solidFill>
            <a:srgbClr val="84C1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6093" y="2879527"/>
            <a:ext cx="255984" cy="2559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24107" y="3540919"/>
            <a:ext cx="266723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Challenge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424107" y="4002286"/>
            <a:ext cx="3459956" cy="2389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Diabetes Mellitus is a chronic disease requiring early diagnosis to prevent severe complications. Traditional diagnosis relies on specific blood tests (OGTT and HbA1c) which require clinical intervention.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5341263" y="3007519"/>
            <a:ext cx="3947755" cy="3628072"/>
          </a:xfrm>
          <a:prstGeom prst="roundRect">
            <a:avLst>
              <a:gd name="adj" fmla="val 4033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341263" y="2977039"/>
            <a:ext cx="3947755" cy="121920"/>
          </a:xfrm>
          <a:prstGeom prst="roundRect">
            <a:avLst>
              <a:gd name="adj" fmla="val 157520"/>
            </a:avLst>
          </a:prstGeom>
          <a:solidFill>
            <a:srgbClr val="84C1FA"/>
          </a:solidFill>
          <a:ln/>
        </p:spPr>
      </p:sp>
      <p:sp>
        <p:nvSpPr>
          <p:cNvPr id="12" name="Shape 9"/>
          <p:cNvSpPr/>
          <p:nvPr/>
        </p:nvSpPr>
        <p:spPr>
          <a:xfrm>
            <a:off x="6995041" y="2687479"/>
            <a:ext cx="640080" cy="640080"/>
          </a:xfrm>
          <a:prstGeom prst="roundRect">
            <a:avLst>
              <a:gd name="adj" fmla="val 142857"/>
            </a:avLst>
          </a:prstGeom>
          <a:solidFill>
            <a:srgbClr val="84C1F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7089" y="2879527"/>
            <a:ext cx="255984" cy="2559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85103" y="3540919"/>
            <a:ext cx="266723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Our Goal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5585103" y="4002286"/>
            <a:ext cx="3460075" cy="102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 a Machine Learning classifier to predict diabetic status based on clinical features.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9502378" y="3007519"/>
            <a:ext cx="3947755" cy="3628072"/>
          </a:xfrm>
          <a:prstGeom prst="roundRect">
            <a:avLst>
              <a:gd name="adj" fmla="val 4033"/>
            </a:avLst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9502378" y="2977039"/>
            <a:ext cx="3947755" cy="121920"/>
          </a:xfrm>
          <a:prstGeom prst="roundRect">
            <a:avLst>
              <a:gd name="adj" fmla="val 157520"/>
            </a:avLst>
          </a:prstGeom>
          <a:solidFill>
            <a:srgbClr val="84C1FA"/>
          </a:solidFill>
          <a:ln/>
        </p:spPr>
      </p:sp>
      <p:sp>
        <p:nvSpPr>
          <p:cNvPr id="18" name="Shape 14"/>
          <p:cNvSpPr/>
          <p:nvPr/>
        </p:nvSpPr>
        <p:spPr>
          <a:xfrm>
            <a:off x="11156156" y="2687479"/>
            <a:ext cx="640080" cy="640080"/>
          </a:xfrm>
          <a:prstGeom prst="roundRect">
            <a:avLst>
              <a:gd name="adj" fmla="val 142857"/>
            </a:avLst>
          </a:prstGeom>
          <a:solidFill>
            <a:srgbClr val="84C1F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48204" y="2879527"/>
            <a:ext cx="255984" cy="2559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746218" y="3540919"/>
            <a:ext cx="266723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Comparison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9746218" y="4002286"/>
            <a:ext cx="3460075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Compare Linear SVM (linear model) vs Multi-Layer Perceptron (non-linear deep learning) to determine which architecture best handles medical data complexity.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3969"/>
            </a:avLst>
          </a:prstGeom>
          <a:solidFill>
            <a:srgbClr val="FFFFFF"/>
          </a:solidFill>
          <a:ln w="7620">
            <a:solidFill>
              <a:srgbClr val="BBD9F5"/>
            </a:solidFill>
            <a:prstDash val="solid"/>
          </a:ln>
          <a:effectLst>
            <a:outerShdw sx="100000" sy="100000" kx="0" ky="0" algn="bl" rotWithShape="0" blurRad="0" dist="85090" dir="2700000">
              <a:srgbClr val="bbd9f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80267" y="1833324"/>
            <a:ext cx="11017448" cy="666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Dataset Overview: Medical Records Analysis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80267" y="3033593"/>
            <a:ext cx="2672953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Dataset Composition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80267" y="3580328"/>
            <a:ext cx="5874663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Total Patients: 1,065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80267" y="4113609"/>
            <a:ext cx="5874663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Source: data_file.xlsx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80267" y="4646890"/>
            <a:ext cx="5874663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Non-Diabetic (0): 537 samples (50.4%)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80267" y="5180171"/>
            <a:ext cx="5874663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Diabetic (1): 528 samples (49.6%)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80267" y="5713452"/>
            <a:ext cx="5874663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Balanced class distribution - ideal for training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583091" y="3033593"/>
            <a:ext cx="310550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Features &amp; Classification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583091" y="3580328"/>
            <a:ext cx="5874663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Input Features (X): First 6 columns including demographics and physical indicators (Gender, Age, BMI)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583091" y="4454962"/>
            <a:ext cx="5874663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Target Labels (y): Binary classification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583091" y="4988243"/>
            <a:ext cx="5874663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Labeling Logic: Diabetic if Glucose (OGTT) ≥ 126 OR Hemoglobin A1c ≥ 6.5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583091" y="5862876"/>
            <a:ext cx="5874663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Follows strict medical diagnostic thresholds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3969"/>
            </a:avLst>
          </a:prstGeom>
          <a:solidFill>
            <a:srgbClr val="FFFFFF"/>
          </a:solidFill>
          <a:ln w="7620">
            <a:solidFill>
              <a:srgbClr val="BBD9F5"/>
            </a:solidFill>
            <a:prstDash val="solid"/>
          </a:ln>
          <a:effectLst>
            <a:outerShdw sx="100000" sy="100000" kx="0" ky="0" algn="bl" rotWithShape="0" blurRad="0" dist="85090" dir="2700000">
              <a:srgbClr val="bbd9f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80267" y="1317546"/>
            <a:ext cx="9691449" cy="666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Exploratory Data Analysis: Key Insights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80267" y="2411135"/>
            <a:ext cx="6028253" cy="2314456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9787" y="2411135"/>
            <a:ext cx="121920" cy="2314456"/>
          </a:xfrm>
          <a:prstGeom prst="roundRect">
            <a:avLst>
              <a:gd name="adj" fmla="val 157520"/>
            </a:avLst>
          </a:prstGeom>
          <a:solidFill>
            <a:srgbClr val="84C1FA"/>
          </a:solidFill>
          <a:ln/>
        </p:spPr>
      </p:sp>
      <p:sp>
        <p:nvSpPr>
          <p:cNvPr id="6" name="Text 4"/>
          <p:cNvSpPr/>
          <p:nvPr/>
        </p:nvSpPr>
        <p:spPr>
          <a:xfrm>
            <a:off x="1515547" y="2654975"/>
            <a:ext cx="3452813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Balanced Class Distribution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15547" y="3116342"/>
            <a:ext cx="5449133" cy="102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 is remarkably balanced (~50.4% Non-Diabetic vs ~49.6% Diabetic). This is ideal for training as it prevents bias toward the majority class.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421880" y="2411135"/>
            <a:ext cx="6028253" cy="2314456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1400" y="2411135"/>
            <a:ext cx="121920" cy="2314456"/>
          </a:xfrm>
          <a:prstGeom prst="roundRect">
            <a:avLst>
              <a:gd name="adj" fmla="val 157520"/>
            </a:avLst>
          </a:prstGeom>
          <a:solidFill>
            <a:srgbClr val="84C1FA"/>
          </a:solidFill>
          <a:ln/>
        </p:spPr>
      </p:sp>
      <p:sp>
        <p:nvSpPr>
          <p:cNvPr id="10" name="Text 8"/>
          <p:cNvSpPr/>
          <p:nvPr/>
        </p:nvSpPr>
        <p:spPr>
          <a:xfrm>
            <a:off x="7757160" y="2654975"/>
            <a:ext cx="266723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Separability Issues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757160" y="3116342"/>
            <a:ext cx="5449133" cy="1365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Performance metrics (~61% accuracy) suggest input features overlap significantly between classes. No clear linear boundary separates diabetic from non-diabetic patients based solely on physical traits.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180267" y="4938951"/>
            <a:ext cx="6028253" cy="1973104"/>
          </a:xfrm>
          <a:prstGeom prst="roundRect">
            <a:avLst>
              <a:gd name="adj" fmla="val 741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9787" y="4938951"/>
            <a:ext cx="121920" cy="1973104"/>
          </a:xfrm>
          <a:prstGeom prst="roundRect">
            <a:avLst>
              <a:gd name="adj" fmla="val 157520"/>
            </a:avLst>
          </a:prstGeom>
          <a:solidFill>
            <a:srgbClr val="84C1FA"/>
          </a:solidFill>
          <a:ln/>
        </p:spPr>
      </p:sp>
      <p:sp>
        <p:nvSpPr>
          <p:cNvPr id="14" name="Text 12"/>
          <p:cNvSpPr/>
          <p:nvPr/>
        </p:nvSpPr>
        <p:spPr>
          <a:xfrm>
            <a:off x="1515547" y="5182791"/>
            <a:ext cx="3231952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 Scaling Necessity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15547" y="5644158"/>
            <a:ext cx="5449133" cy="102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Features like Age (20-80) and BMI (18-40) had vastly different scales, requiring StandardScaler normalization before feeding into models.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421880" y="4938951"/>
            <a:ext cx="6028253" cy="1973104"/>
          </a:xfrm>
          <a:prstGeom prst="roundRect">
            <a:avLst>
              <a:gd name="adj" fmla="val 741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1400" y="4938951"/>
            <a:ext cx="121920" cy="1973104"/>
          </a:xfrm>
          <a:prstGeom prst="roundRect">
            <a:avLst>
              <a:gd name="adj" fmla="val 157520"/>
            </a:avLst>
          </a:prstGeom>
          <a:solidFill>
            <a:srgbClr val="84C1FA"/>
          </a:solidFill>
          <a:ln/>
        </p:spPr>
      </p:sp>
      <p:sp>
        <p:nvSpPr>
          <p:cNvPr id="18" name="Text 16"/>
          <p:cNvSpPr/>
          <p:nvPr/>
        </p:nvSpPr>
        <p:spPr>
          <a:xfrm>
            <a:off x="7757160" y="5182791"/>
            <a:ext cx="266723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Quality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757160" y="5644158"/>
            <a:ext cx="5449133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Clean, well-structured medical records with no missing values in key diagnostic features.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3969"/>
            </a:avLst>
          </a:prstGeom>
          <a:solidFill>
            <a:srgbClr val="FFFFFF"/>
          </a:solidFill>
          <a:ln w="7620">
            <a:solidFill>
              <a:srgbClr val="BBD9F5"/>
            </a:solidFill>
            <a:prstDash val="solid"/>
          </a:ln>
          <a:effectLst>
            <a:outerShdw sx="100000" sy="100000" kx="0" ky="0" algn="bl" rotWithShape="0" blurRad="0" dist="85090" dir="2700000">
              <a:srgbClr val="bbd9f5">
                <a:alpha val="10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7526" y="243840"/>
            <a:ext cx="5419249" cy="7741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0267" y="1050369"/>
            <a:ext cx="7108508" cy="133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Confusion Matrix - MLP Classifier</a:t>
            </a:r>
            <a:endParaRPr lang="en-US" sz="4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0277" y="2714744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73687" y="2704148"/>
            <a:ext cx="2727484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Accuracy: 61.88%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47880" y="2714744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61290" y="2704148"/>
            <a:ext cx="2727484" cy="102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True Negatives (Non-Diabetic correctly identified): 92</a:t>
            </a:r>
            <a:endParaRPr lang="en-US" sz="16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0277" y="4165521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873687" y="4154924"/>
            <a:ext cx="2727484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False Positives (Incorrectly classified as Diabetic): 69</a:t>
            </a:r>
            <a:endParaRPr lang="en-US" sz="16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47880" y="4165521"/>
            <a:ext cx="320040" cy="3200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561290" y="4154924"/>
            <a:ext cx="2727484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False Negatives (Missed Diabetic cases): 53</a:t>
            </a:r>
            <a:endParaRPr lang="en-US" sz="16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60277" y="5274945"/>
            <a:ext cx="320040" cy="32004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873687" y="5264348"/>
            <a:ext cx="6415088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True Positives (Diabetic correctly identified): 106</a:t>
            </a:r>
            <a:endParaRPr lang="en-US" sz="1650" dirty="0"/>
          </a:p>
        </p:txBody>
      </p:sp>
      <p:sp>
        <p:nvSpPr>
          <p:cNvPr id="15" name="Text 7"/>
          <p:cNvSpPr/>
          <p:nvPr/>
        </p:nvSpPr>
        <p:spPr>
          <a:xfrm>
            <a:off x="1180267" y="6155055"/>
            <a:ext cx="7108508" cy="102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Conclusion: MLP performs better with fewer false negatives (53 vs 67), identifying 106 true diabetic cases compared to SVM's 92. Better for clinical early detection.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3969"/>
            </a:avLst>
          </a:prstGeom>
          <a:solidFill>
            <a:srgbClr val="FFFFFF"/>
          </a:solidFill>
          <a:ln w="7620">
            <a:solidFill>
              <a:srgbClr val="BBD9F5"/>
            </a:solidFill>
            <a:prstDash val="solid"/>
          </a:ln>
          <a:effectLst>
            <a:outerShdw sx="100000" sy="100000" kx="0" ky="0" algn="bl" rotWithShape="0" blurRad="0" dist="85090" dir="2700000">
              <a:srgbClr val="bbd9f5">
                <a:alpha val="10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7526" y="243840"/>
            <a:ext cx="5419249" cy="7741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0267" y="1653183"/>
            <a:ext cx="7108508" cy="133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Confusion Matrix - Linear SVM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180267" y="3306961"/>
            <a:ext cx="7108508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Accuracy: 60.94%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180267" y="3722965"/>
            <a:ext cx="7108508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True Negatives (Non-Diabetic correctly identified): 103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180267" y="4138970"/>
            <a:ext cx="7108508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False Positives (Incorrectly classified as Diabetic): 58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180267" y="4554974"/>
            <a:ext cx="7108508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False Negatives (Missed Diabetic cases): 67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180267" y="4970978"/>
            <a:ext cx="7108508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True Positives (Diabetic correctly identified): 92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180267" y="5552361"/>
            <a:ext cx="7108508" cy="102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Conclusion: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High number of false negatives (67) indicates the linear model misses many actual diabetic patients, which is problematic for early detection.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3969"/>
            </a:avLst>
          </a:prstGeom>
          <a:solidFill>
            <a:srgbClr val="FFFFFF"/>
          </a:solidFill>
          <a:ln w="7620">
            <a:solidFill>
              <a:srgbClr val="BBD9F5"/>
            </a:solidFill>
            <a:prstDash val="solid"/>
          </a:ln>
          <a:effectLst>
            <a:outerShdw sx="100000" sy="100000" kx="0" ky="0" algn="bl" rotWithShape="0" blurRad="0" dist="85090" dir="2700000">
              <a:srgbClr val="bbd9f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80267" y="1314569"/>
            <a:ext cx="9760148" cy="666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Model Building: Algorithm Comparison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80267" y="2514838"/>
            <a:ext cx="476381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Linear Support Vector Machine (SVM)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80267" y="3061573"/>
            <a:ext cx="5874663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Configuration: Optimized for regularization parameter C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80267" y="3477578"/>
            <a:ext cx="5874663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Best Parameter: C = 0.01 (high regularization to prevent overfitting)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80267" y="4234934"/>
            <a:ext cx="5874663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Accuracy: 60.94%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80267" y="4650938"/>
            <a:ext cx="5874663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Recall (Diabetic Class): 0.58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80267" y="5066943"/>
            <a:ext cx="5874663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Finding: Linear kernel struggled to differentiate classes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80267" y="5824299"/>
            <a:ext cx="5874663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False Negatives: 67 missed diagnoses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583091" y="2514838"/>
            <a:ext cx="5874663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Multi-Layer Perceptron (MLP - Neural Network)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583091" y="3394948"/>
            <a:ext cx="5874663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Configuration: Optimized for hidden layers, activation functions, solvers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583091" y="4152305"/>
            <a:ext cx="5874663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Best Parameters: Activation = relu, Hidden Layers = (50,), Solver = sgd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583091" y="4909661"/>
            <a:ext cx="5874663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Accuracy: 61.88%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583091" y="5325666"/>
            <a:ext cx="5874663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Recall (Diabetic Class): 0.67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583091" y="5741670"/>
            <a:ext cx="5874663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Finding: MLP slightly outperformed SVM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583091" y="6157674"/>
            <a:ext cx="5874663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True Positives: 106 diabetic patients correctly identified vs SVM's 92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3969"/>
            </a:avLst>
          </a:prstGeom>
          <a:solidFill>
            <a:srgbClr val="FFFFFF"/>
          </a:solidFill>
          <a:ln w="7620">
            <a:solidFill>
              <a:srgbClr val="BBD9F5"/>
            </a:solidFill>
            <a:prstDash val="solid"/>
          </a:ln>
          <a:effectLst>
            <a:outerShdw sx="100000" sy="100000" kx="0" ky="0" algn="bl" rotWithShape="0" blurRad="0" dist="85090" dir="2700000">
              <a:srgbClr val="bbd9f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80267" y="1043821"/>
            <a:ext cx="10904339" cy="666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Conclusions &amp; Strategic Recommendations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80267" y="2244090"/>
            <a:ext cx="266723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Findings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80267" y="2790825"/>
            <a:ext cx="3742492" cy="102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Non-Linearity Wins: Neural Network (MLP) outperformed Linear SVM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80267" y="3889534"/>
            <a:ext cx="3742492" cy="102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Confirms relationship between physical attributes and Diabetes is non-linear and complex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80267" y="4988243"/>
            <a:ext cx="3742492" cy="102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Convergence Issues: MLP produced warnings, indicating SGD needed more iterations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80267" y="6086951"/>
            <a:ext cx="3742492" cy="102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Moderate Predictive Power: ~62% accuracy shows demographic features alone are insufficient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450919" y="2244090"/>
            <a:ext cx="266723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Model Performance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450919" y="2790825"/>
            <a:ext cx="3742492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Linear SVM: 60.94% accuracy, 0.58 recall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450919" y="3548182"/>
            <a:ext cx="3742492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MLP: 61.88% accuracy, 0.67 recall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450919" y="3964186"/>
            <a:ext cx="3742492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MLP identified 14 more true diabetic cases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450919" y="4721542"/>
            <a:ext cx="3742492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MLP reduced false negatives by 20%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721572" y="2244090"/>
            <a:ext cx="266723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Recommendations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721572" y="2790825"/>
            <a:ext cx="3742492" cy="102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 Engineering: Add Blood Pressure, Family History, Insulin Levels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721572" y="3889534"/>
            <a:ext cx="3742492" cy="102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 Tuning: Switch MLP solver from sgd to adam for faster convergence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721572" y="4988243"/>
            <a:ext cx="3742492" cy="102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Algorithm Selection: Test Kernel SVM (RBF) or ensemble methods (Random Forest/XGBoost)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721572" y="6086951"/>
            <a:ext cx="3742492" cy="102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Next Steps: Implement non-linear models for better handling of tabular medical data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2025-12-17T11:23:49Z</dcterms:created>
  <dcterms:modified xsi:type="dcterms:W3CDTF">2025-12-17T11:23:49Z</dcterms:modified>
</cp:coreProperties>
</file>